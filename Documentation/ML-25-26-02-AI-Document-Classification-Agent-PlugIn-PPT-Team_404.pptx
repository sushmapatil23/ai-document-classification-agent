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handoutMasterIdLst>
    <p:handoutMasterId r:id="rId15"/>
  </p:handoutMasterIdLst>
  <p:sldIdLst>
    <p:sldId id="256" r:id="rId3"/>
    <p:sldId id="257" r:id="rId5"/>
    <p:sldId id="258" r:id="rId6"/>
    <p:sldId id="259" r:id="rId7"/>
    <p:sldId id="260" r:id="rId8"/>
    <p:sldId id="261" r:id="rId9"/>
    <p:sldId id="262" r:id="rId10"/>
    <p:sldId id="263" r:id="rId11"/>
    <p:sldId id="264" r:id="rId12"/>
    <p:sldId id="265" r:id="rId13"/>
    <p:sldId id="266" r:id="rId14"/>
  </p:sldIdLst>
  <p:sldSz cx="14630400" cy="8229600"/>
  <p:notesSz cx="8229600" cy="14630400"/>
  <p:embeddedFontLst>
    <p:embeddedFont>
      <p:font typeface="Raleway" pitchFamily="2" charset="0"/>
      <p:regular r:id="rId19"/>
    </p:embeddedFont>
    <p:embeddedFont>
      <p:font typeface="Roboto" panose="02000000000000000000" pitchFamily="34" charset="0"/>
      <p:regular r:id="rId20"/>
    </p:embeddedFont>
    <p:embeddedFont>
      <p:font typeface="Roboto" panose="02000000000000000000" pitchFamily="34" charset="-122"/>
      <p:regular r:id="rId21"/>
    </p:embeddedFont>
    <p:embeddedFont>
      <p:font typeface="Roboto" panose="02000000000000000000" pitchFamily="34" charset="-120"/>
      <p:regular r:id="rId22"/>
    </p:embeddedFont>
    <p:embeddedFont>
      <p:font typeface="Raleway" pitchFamily="34" charset="-122"/>
      <p:regular r:id="rId23"/>
    </p:embeddedFont>
    <p:embeddedFont>
      <p:font typeface="Raleway" pitchFamily="34" charset="-120"/>
      <p:regular r:id="rId24"/>
    </p:embeddedFont>
    <p:embeddedFont>
      <p:font typeface="Raleway Light" pitchFamily="34" charset="0"/>
      <p:regular r:id="rId25"/>
    </p:embeddedFont>
    <p:embeddedFont>
      <p:font typeface="Raleway Light" pitchFamily="34" charset="-122"/>
      <p:regular r:id="rId26"/>
    </p:embeddedFont>
    <p:embeddedFont>
      <p:font typeface="Raleway Light" pitchFamily="34" charset="-12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6160" cy="734061"/>
          </a:xfrm>
          <a:prstGeom prst="rect">
            <a:avLst/>
          </a:prstGeom>
        </p:spPr>
        <p:txBody>
          <a:bodyPr vert="horz" lIns="91440" tIns="45720" rIns="91440" bIns="45720" rtlCol="0"/>
          <a:lstStyle>
            <a:lvl1pPr algn="l">
              <a:defRPr sz="1440"/>
            </a:lvl1pPr>
          </a:lstStyle>
          <a:p>
            <a:endParaRPr lang="en-US"/>
          </a:p>
        </p:txBody>
      </p:sp>
      <p:sp>
        <p:nvSpPr>
          <p:cNvPr id="3" name="Date Placeholder 2"/>
          <p:cNvSpPr>
            <a:spLocks noGrp="1"/>
          </p:cNvSpPr>
          <p:nvPr>
            <p:ph type="dt" sz="quarter" idx="1"/>
          </p:nvPr>
        </p:nvSpPr>
        <p:spPr>
          <a:xfrm>
            <a:off x="4661536" y="0"/>
            <a:ext cx="3566160" cy="734061"/>
          </a:xfrm>
          <a:prstGeom prst="rect">
            <a:avLst/>
          </a:prstGeom>
        </p:spPr>
        <p:txBody>
          <a:bodyPr vert="horz" lIns="91440" tIns="45720" rIns="91440" bIns="45720" rtlCol="0"/>
          <a:lstStyle>
            <a:lvl1pPr algn="r">
              <a:defRPr sz="144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13896341"/>
            <a:ext cx="3566160" cy="734059"/>
          </a:xfrm>
          <a:prstGeom prst="rect">
            <a:avLst/>
          </a:prstGeom>
        </p:spPr>
        <p:txBody>
          <a:bodyPr vert="horz" lIns="91440" tIns="45720" rIns="91440" bIns="45720" rtlCol="0" anchor="b"/>
          <a:lstStyle>
            <a:lvl1pPr algn="l">
              <a:defRPr sz="1440"/>
            </a:lvl1pPr>
          </a:lstStyle>
          <a:p>
            <a:endParaRPr lang="en-US"/>
          </a:p>
        </p:txBody>
      </p:sp>
      <p:sp>
        <p:nvSpPr>
          <p:cNvPr id="5" name="Slide Number Placeholder 4"/>
          <p:cNvSpPr>
            <a:spLocks noGrp="1"/>
          </p:cNvSpPr>
          <p:nvPr>
            <p:ph type="sldNum" sz="quarter" idx="3"/>
          </p:nvPr>
        </p:nvSpPr>
        <p:spPr>
          <a:xfrm>
            <a:off x="4661536" y="13896341"/>
            <a:ext cx="3566160" cy="734059"/>
          </a:xfrm>
          <a:prstGeom prst="rect">
            <a:avLst/>
          </a:prstGeom>
        </p:spPr>
        <p:txBody>
          <a:bodyPr vert="horz" lIns="91440" tIns="45720" rIns="91440" bIns="45720" rtlCol="0" anchor="b"/>
          <a:lstStyle>
            <a:lvl1pPr algn="r">
              <a:defRPr sz="144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txBody>
          <a:bodyPr/>
          <a:lstStyle/>
          <a:p>
            <a:endParaRPr lang="en-IN"/>
          </a:p>
        </p:txBody>
      </p:sp>
      <p:sp>
        <p:nvSpPr>
          <p:cNvPr id="3" name="Shape 1"/>
          <p:cNvSpPr/>
          <p:nvPr/>
        </p:nvSpPr>
        <p:spPr>
          <a:xfrm>
            <a:off x="0" y="0"/>
            <a:ext cx="14630400" cy="8229600"/>
          </a:xfrm>
          <a:prstGeom prst="rect">
            <a:avLst/>
          </a:prstGeom>
          <a:solidFill>
            <a:srgbClr val="FFFFFF">
              <a:alpha val="95000"/>
            </a:srgbClr>
          </a:solidFill>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p:spPr>
      </p:sp>
      <p:sp>
        <p:nvSpPr>
          <p:cNvPr id="3" name="Shape 1"/>
          <p:cNvSpPr/>
          <p:nvPr/>
        </p:nvSpPr>
        <p:spPr>
          <a:xfrm>
            <a:off x="0" y="0"/>
            <a:ext cx="14630400" cy="8229600"/>
          </a:xfrm>
          <a:prstGeom prst="rect">
            <a:avLst/>
          </a:prstGeom>
          <a:solidFill>
            <a:srgbClr val="FFFFFF">
              <a:alpha val="95000"/>
            </a:srgbClr>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1800226"/>
            <a:ext cx="5486400" cy="6429374"/>
          </a:xfrm>
          <a:prstGeom prst="rect">
            <a:avLst/>
          </a:prstGeom>
        </p:spPr>
      </p:pic>
      <p:sp>
        <p:nvSpPr>
          <p:cNvPr id="3" name="Text 0"/>
          <p:cNvSpPr/>
          <p:nvPr/>
        </p:nvSpPr>
        <p:spPr>
          <a:xfrm>
            <a:off x="5991226" y="647701"/>
            <a:ext cx="8315324" cy="2241710"/>
          </a:xfrm>
          <a:prstGeom prst="rect">
            <a:avLst/>
          </a:prstGeom>
          <a:noFill/>
        </p:spPr>
        <p:txBody>
          <a:bodyPr wrap="square" lIns="0" tIns="0" rIns="0" bIns="0" rtlCol="0" anchor="t"/>
          <a:lstStyle/>
          <a:p>
            <a:pPr>
              <a:lnSpc>
                <a:spcPts val="5550"/>
              </a:lnSpc>
            </a:pPr>
            <a:r>
              <a:rPr lang="en-IN" sz="5400" b="1" i="1" dirty="0">
                <a:latin typeface="Raleway" pitchFamily="2" charset="0"/>
              </a:rPr>
              <a:t>ML-25-26-02</a:t>
            </a:r>
            <a:br>
              <a:rPr lang="en-IN" sz="5400" b="1" i="1" dirty="0">
                <a:latin typeface="Raleway" pitchFamily="2" charset="0"/>
              </a:rPr>
            </a:br>
            <a:r>
              <a:rPr lang="en-IN" sz="5400" b="1" i="1" dirty="0">
                <a:latin typeface="Raleway" pitchFamily="2" charset="0"/>
              </a:rPr>
              <a:t>AI-Document-Classification Agent-</a:t>
            </a:r>
            <a:r>
              <a:rPr lang="en-IN" sz="5400" b="1" i="1" dirty="0" err="1">
                <a:latin typeface="Raleway" pitchFamily="2" charset="0"/>
              </a:rPr>
              <a:t>PlugIn</a:t>
            </a:r>
            <a:endParaRPr lang="en-US" sz="5400" b="1" i="1" dirty="0">
              <a:latin typeface="Raleway" pitchFamily="2" charset="0"/>
            </a:endParaRPr>
          </a:p>
        </p:txBody>
      </p:sp>
      <p:sp>
        <p:nvSpPr>
          <p:cNvPr id="4" name="Text 1"/>
          <p:cNvSpPr/>
          <p:nvPr/>
        </p:nvSpPr>
        <p:spPr>
          <a:xfrm>
            <a:off x="6280190" y="3831193"/>
            <a:ext cx="7556421" cy="725805"/>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Semantic embeddings, OCR, and two-stage retrieval for automatic document classification and document-level search.</a:t>
            </a:r>
            <a:endParaRPr lang="en-US" sz="1750" dirty="0"/>
          </a:p>
        </p:txBody>
      </p:sp>
      <p:sp>
        <p:nvSpPr>
          <p:cNvPr id="5" name="Text 2"/>
          <p:cNvSpPr/>
          <p:nvPr/>
        </p:nvSpPr>
        <p:spPr>
          <a:xfrm>
            <a:off x="10600239" y="6530577"/>
            <a:ext cx="4325129" cy="961604"/>
          </a:xfrm>
          <a:prstGeom prst="rect">
            <a:avLst/>
          </a:prstGeom>
          <a:noFill/>
        </p:spPr>
        <p:txBody>
          <a:bodyPr wrap="none" lIns="0" tIns="0" rIns="0" bIns="0" rtlCol="0" anchor="t"/>
          <a:lstStyle/>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Sneha Mallepalli </a:t>
            </a: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(1630732) </a:t>
            </a:r>
            <a:endPar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endParaRPr>
          </a:p>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Sushma Prabhugowda Patil</a:t>
            </a: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 (1628777)</a:t>
            </a:r>
            <a:endParaRPr lang="en-US" sz="1750" dirty="0"/>
          </a:p>
        </p:txBody>
      </p:sp>
      <p:sp>
        <p:nvSpPr>
          <p:cNvPr id="6" name="Text 3"/>
          <p:cNvSpPr/>
          <p:nvPr/>
        </p:nvSpPr>
        <p:spPr>
          <a:xfrm>
            <a:off x="6280191" y="4862989"/>
            <a:ext cx="7556421" cy="725805"/>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Information Technology Course </a:t>
            </a:r>
            <a:endPar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endParaRPr>
          </a:p>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Software Engineering : Dr. Damir Dobric / Andreas Pech</a:t>
            </a:r>
            <a:endParaRPr lang="en-US" sz="1750" dirty="0"/>
          </a:p>
        </p:txBody>
      </p:sp>
      <p:sp>
        <p:nvSpPr>
          <p:cNvPr id="7" name="Rectangle 6"/>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logo for a company&#10;&#10;AI-generated content may be incorrect."/>
          <p:cNvPicPr>
            <a:picLocks noChangeAspect="1"/>
          </p:cNvPicPr>
          <p:nvPr/>
        </p:nvPicPr>
        <p:blipFill>
          <a:blip r:embed="rId2"/>
          <a:stretch>
            <a:fillRect/>
          </a:stretch>
        </p:blipFill>
        <p:spPr>
          <a:xfrm>
            <a:off x="407192" y="124495"/>
            <a:ext cx="3298075" cy="14085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090618"/>
            <a:ext cx="6442115" cy="566976"/>
          </a:xfrm>
          <a:prstGeom prst="rect">
            <a:avLst/>
          </a:prstGeom>
          <a:noFill/>
        </p:spPr>
        <p:txBody>
          <a:bodyPr wrap="non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Why This System Is Needed</a:t>
            </a:r>
            <a:endParaRPr lang="en-US" sz="3550" dirty="0"/>
          </a:p>
        </p:txBody>
      </p:sp>
      <p:sp>
        <p:nvSpPr>
          <p:cNvPr id="4" name="Text 1"/>
          <p:cNvSpPr/>
          <p:nvPr/>
        </p:nvSpPr>
        <p:spPr>
          <a:xfrm>
            <a:off x="793790" y="2997756"/>
            <a:ext cx="7556421" cy="3141107"/>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Organisations produce large volumes of heterogeneous documents: reports, invoices, research papers, emails, and scans.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Keyword-based methods miss context, semantic similarity, and document meaning.</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Manual categorisation does not scale, especially across mixed file formats and enterprise volumes.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The goal is to classify content automatically while preserving retrieval precision.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60947"/>
            <a:ext cx="7556421" cy="1133951"/>
          </a:xfrm>
          <a:prstGeom prst="rect">
            <a:avLst/>
          </a:prstGeom>
          <a:noFill/>
        </p:spPr>
        <p:txBody>
          <a:bodyPr wrap="squar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Core Idea: Embeddings Over Keywords</a:t>
            </a:r>
            <a:endParaRPr lang="en-US" sz="3550" dirty="0"/>
          </a:p>
        </p:txBody>
      </p:sp>
      <p:sp>
        <p:nvSpPr>
          <p:cNvPr id="4" name="Text 1"/>
          <p:cNvSpPr/>
          <p:nvPr/>
        </p:nvSpPr>
        <p:spPr>
          <a:xfrm>
            <a:off x="793790" y="3335060"/>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Each document is transformed into a high-dimensional embedding using the OpenAI Embeddings API. Similar documents cluster together in vector space, making cosine similarity a natural way to compare meaning rather than surface words.</a:t>
            </a:r>
            <a:endParaRPr lang="en-US" sz="1750" dirty="0"/>
          </a:p>
        </p:txBody>
      </p:sp>
      <p:sp>
        <p:nvSpPr>
          <p:cNvPr id="5" name="Shape 2"/>
          <p:cNvSpPr/>
          <p:nvPr/>
        </p:nvSpPr>
        <p:spPr>
          <a:xfrm>
            <a:off x="793790" y="5041821"/>
            <a:ext cx="7556421" cy="1326713"/>
          </a:xfrm>
          <a:prstGeom prst="roundRect">
            <a:avLst>
              <a:gd name="adj" fmla="val 7181"/>
            </a:avLst>
          </a:prstGeom>
          <a:solidFill>
            <a:srgbClr val="D2D2E0"/>
          </a:solidFill>
        </p:spPr>
        <p:txBody>
          <a:bodyPr/>
          <a:lstStyle/>
          <a:p>
            <a:endParaRPr lang="en-IN"/>
          </a:p>
        </p:txBody>
      </p:sp>
      <p:pic>
        <p:nvPicPr>
          <p:cNvPr id="6" name="Image 1" descr="preencoded.png"/>
          <p:cNvPicPr>
            <a:picLocks noChangeAspect="1"/>
          </p:cNvPicPr>
          <p:nvPr/>
        </p:nvPicPr>
        <p:blipFill>
          <a:blip r:embed="rId2"/>
          <a:stretch>
            <a:fillRect/>
          </a:stretch>
        </p:blipFill>
        <p:spPr>
          <a:xfrm>
            <a:off x="1020604" y="5385911"/>
            <a:ext cx="283488" cy="226814"/>
          </a:xfrm>
          <a:prstGeom prst="rect">
            <a:avLst/>
          </a:prstGeom>
        </p:spPr>
      </p:pic>
      <p:sp>
        <p:nvSpPr>
          <p:cNvPr id="7" name="Text 3"/>
          <p:cNvSpPr/>
          <p:nvPr/>
        </p:nvSpPr>
        <p:spPr>
          <a:xfrm>
            <a:off x="1530906" y="5325308"/>
            <a:ext cx="6592491" cy="725805"/>
          </a:xfrm>
          <a:prstGeom prst="rect">
            <a:avLst/>
          </a:prstGeom>
          <a:noFill/>
        </p:spPr>
        <p:txBody>
          <a:bodyPr wrap="square" lIns="0" tIns="0" rIns="0" bIns="0" rtlCol="0" anchor="t"/>
          <a:lstStyle/>
          <a:p>
            <a:pPr marL="0" indent="0" algn="l">
              <a:lnSpc>
                <a:spcPts val="2850"/>
              </a:lnSpc>
              <a:buNone/>
            </a:pPr>
            <a:r>
              <a:rPr lang="en-US" sz="1750" b="1" dirty="0">
                <a:solidFill>
                  <a:srgbClr val="000000"/>
                </a:solidFill>
                <a:latin typeface="Roboto" panose="02000000000000000000" pitchFamily="34" charset="0"/>
                <a:ea typeface="Roboto" panose="02000000000000000000" pitchFamily="34" charset="-122"/>
                <a:cs typeface="Roboto" panose="02000000000000000000" pitchFamily="34" charset="-120"/>
              </a:rPr>
              <a:t>Key principle:</a:t>
            </a:r>
            <a:r>
              <a:rPr lang="en-US" sz="1750" dirty="0">
                <a:solidFill>
                  <a:srgbClr val="000000"/>
                </a:solidFill>
                <a:latin typeface="Roboto" panose="02000000000000000000" pitchFamily="34" charset="0"/>
                <a:ea typeface="Roboto" panose="02000000000000000000" pitchFamily="34" charset="-122"/>
                <a:cs typeface="Roboto" panose="02000000000000000000" pitchFamily="34" charset="-120"/>
              </a:rPr>
              <a:t> semantic proximity is more useful than exact term overlap for real-world document management.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67289"/>
            <a:ext cx="7556421" cy="1133951"/>
          </a:xfrm>
          <a:prstGeom prst="rect">
            <a:avLst/>
          </a:prstGeom>
          <a:noFill/>
        </p:spPr>
        <p:txBody>
          <a:bodyPr wrap="squar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Input Pipeline: Parse, OCR, Normalise</a:t>
            </a:r>
            <a:endParaRPr lang="en-US" sz="3550" dirty="0"/>
          </a:p>
        </p:txBody>
      </p:sp>
      <p:sp>
        <p:nvSpPr>
          <p:cNvPr id="4" name="Text 1"/>
          <p:cNvSpPr/>
          <p:nvPr/>
        </p:nvSpPr>
        <p:spPr>
          <a:xfrm>
            <a:off x="6280190" y="2641402"/>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3C3939"/>
                </a:solidFill>
                <a:latin typeface="Raleway Light" pitchFamily="34" charset="0"/>
                <a:ea typeface="Raleway Light" pitchFamily="34" charset="-122"/>
                <a:cs typeface="Raleway Light" pitchFamily="34" charset="-120"/>
              </a:rPr>
              <a:t>01</a:t>
            </a:r>
            <a:endParaRPr lang="en-US" sz="1750" dirty="0"/>
          </a:p>
        </p:txBody>
      </p:sp>
      <p:sp>
        <p:nvSpPr>
          <p:cNvPr id="5" name="Shape 2"/>
          <p:cNvSpPr/>
          <p:nvPr/>
        </p:nvSpPr>
        <p:spPr>
          <a:xfrm>
            <a:off x="6280190" y="2996446"/>
            <a:ext cx="3664744" cy="30480"/>
          </a:xfrm>
          <a:prstGeom prst="rect">
            <a:avLst/>
          </a:prstGeom>
          <a:solidFill>
            <a:srgbClr val="1B1B27"/>
          </a:solidFill>
        </p:spPr>
        <p:txBody>
          <a:bodyPr/>
          <a:lstStyle/>
          <a:p>
            <a:endParaRPr lang="en-IN"/>
          </a:p>
        </p:txBody>
      </p:sp>
      <p:sp>
        <p:nvSpPr>
          <p:cNvPr id="6" name="Text 3"/>
          <p:cNvSpPr/>
          <p:nvPr/>
        </p:nvSpPr>
        <p:spPr>
          <a:xfrm>
            <a:off x="6280190" y="3170753"/>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3C3939"/>
                </a:solidFill>
                <a:latin typeface="Raleway" pitchFamily="2" charset="0"/>
                <a:ea typeface="Raleway" pitchFamily="34" charset="-122"/>
                <a:cs typeface="Raleway" pitchFamily="34" charset="-120"/>
              </a:rPr>
              <a:t> Parse documents</a:t>
            </a:r>
            <a:endParaRPr lang="en-US" sz="2200" dirty="0"/>
          </a:p>
        </p:txBody>
      </p:sp>
      <p:sp>
        <p:nvSpPr>
          <p:cNvPr id="7" name="Text 4"/>
          <p:cNvSpPr/>
          <p:nvPr/>
        </p:nvSpPr>
        <p:spPr>
          <a:xfrm>
            <a:off x="6280190" y="3661172"/>
            <a:ext cx="3664744" cy="725805"/>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Daenet Document Parser extracts text from PDF, DOCX, and TXT files.</a:t>
            </a:r>
            <a:endParaRPr lang="en-US" sz="1750" dirty="0"/>
          </a:p>
        </p:txBody>
      </p:sp>
      <p:sp>
        <p:nvSpPr>
          <p:cNvPr id="8" name="Text 5"/>
          <p:cNvSpPr/>
          <p:nvPr/>
        </p:nvSpPr>
        <p:spPr>
          <a:xfrm>
            <a:off x="10171748" y="2641402"/>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3C3939"/>
                </a:solidFill>
                <a:latin typeface="Raleway Light" pitchFamily="34" charset="0"/>
                <a:ea typeface="Raleway Light" pitchFamily="34" charset="-122"/>
                <a:cs typeface="Raleway Light" pitchFamily="34" charset="-120"/>
              </a:rPr>
              <a:t>02</a:t>
            </a:r>
            <a:endParaRPr lang="en-US" sz="1750" dirty="0"/>
          </a:p>
        </p:txBody>
      </p:sp>
      <p:sp>
        <p:nvSpPr>
          <p:cNvPr id="9" name="Shape 6"/>
          <p:cNvSpPr/>
          <p:nvPr/>
        </p:nvSpPr>
        <p:spPr>
          <a:xfrm>
            <a:off x="10171748" y="2996446"/>
            <a:ext cx="3664863" cy="30480"/>
          </a:xfrm>
          <a:prstGeom prst="rect">
            <a:avLst/>
          </a:prstGeom>
          <a:solidFill>
            <a:srgbClr val="1B1B27"/>
          </a:solidFill>
        </p:spPr>
        <p:txBody>
          <a:bodyPr/>
          <a:lstStyle/>
          <a:p>
            <a:endParaRPr lang="en-IN"/>
          </a:p>
        </p:txBody>
      </p:sp>
      <p:sp>
        <p:nvSpPr>
          <p:cNvPr id="10" name="Text 7"/>
          <p:cNvSpPr/>
          <p:nvPr/>
        </p:nvSpPr>
        <p:spPr>
          <a:xfrm>
            <a:off x="10171748" y="3170753"/>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3C3939"/>
                </a:solidFill>
                <a:latin typeface="Raleway" pitchFamily="2" charset="0"/>
                <a:ea typeface="Raleway" pitchFamily="34" charset="-122"/>
                <a:cs typeface="Raleway" pitchFamily="34" charset="-120"/>
              </a:rPr>
              <a:t> OCR image files</a:t>
            </a:r>
            <a:endParaRPr lang="en-US" sz="2200" dirty="0"/>
          </a:p>
        </p:txBody>
      </p:sp>
      <p:sp>
        <p:nvSpPr>
          <p:cNvPr id="11" name="Text 8"/>
          <p:cNvSpPr/>
          <p:nvPr/>
        </p:nvSpPr>
        <p:spPr>
          <a:xfrm>
            <a:off x="10171748" y="3661172"/>
            <a:ext cx="3664863" cy="1088708"/>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Tesseract OCR 5.0 processes PNG and JPEG documents using the English language model.</a:t>
            </a:r>
            <a:endParaRPr lang="en-US" sz="1750" dirty="0"/>
          </a:p>
        </p:txBody>
      </p:sp>
      <p:sp>
        <p:nvSpPr>
          <p:cNvPr id="12" name="Text 9"/>
          <p:cNvSpPr/>
          <p:nvPr/>
        </p:nvSpPr>
        <p:spPr>
          <a:xfrm>
            <a:off x="6280190" y="5146715"/>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3C3939"/>
                </a:solidFill>
                <a:latin typeface="Raleway Light" pitchFamily="34" charset="0"/>
                <a:ea typeface="Raleway Light" pitchFamily="34" charset="-122"/>
                <a:cs typeface="Raleway Light" pitchFamily="34" charset="-120"/>
              </a:rPr>
              <a:t>03</a:t>
            </a:r>
            <a:endParaRPr lang="en-US" sz="1750" dirty="0"/>
          </a:p>
        </p:txBody>
      </p:sp>
      <p:sp>
        <p:nvSpPr>
          <p:cNvPr id="13" name="Shape 10"/>
          <p:cNvSpPr/>
          <p:nvPr/>
        </p:nvSpPr>
        <p:spPr>
          <a:xfrm>
            <a:off x="6280190" y="5501759"/>
            <a:ext cx="7556421" cy="30480"/>
          </a:xfrm>
          <a:prstGeom prst="rect">
            <a:avLst/>
          </a:prstGeom>
          <a:solidFill>
            <a:srgbClr val="1B1B27"/>
          </a:solidFill>
        </p:spPr>
        <p:txBody>
          <a:bodyPr/>
          <a:lstStyle/>
          <a:p>
            <a:endParaRPr lang="en-IN"/>
          </a:p>
        </p:txBody>
      </p:sp>
      <p:sp>
        <p:nvSpPr>
          <p:cNvPr id="14" name="Text 11"/>
          <p:cNvSpPr/>
          <p:nvPr/>
        </p:nvSpPr>
        <p:spPr>
          <a:xfrm>
            <a:off x="6280190" y="5676067"/>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3C3939"/>
                </a:solidFill>
                <a:latin typeface="Raleway" pitchFamily="2" charset="0"/>
                <a:ea typeface="Raleway" pitchFamily="34" charset="-122"/>
                <a:cs typeface="Raleway" pitchFamily="34" charset="-120"/>
              </a:rPr>
              <a:t> Standardise text</a:t>
            </a:r>
            <a:endParaRPr lang="en-US" sz="2200" dirty="0"/>
          </a:p>
        </p:txBody>
      </p:sp>
      <p:sp>
        <p:nvSpPr>
          <p:cNvPr id="15" name="Text 12"/>
          <p:cNvSpPr/>
          <p:nvPr/>
        </p:nvSpPr>
        <p:spPr>
          <a:xfrm>
            <a:off x="6280190" y="6166485"/>
            <a:ext cx="7556421" cy="725805"/>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Extracted text is passed into a single embedding workflow for uniform downstream handling.</a:t>
            </a:r>
            <a:endParaRPr lang="en-US" sz="1750" dirty="0"/>
          </a:p>
        </p:txBody>
      </p:sp>
      <p:sp>
        <p:nvSpPr>
          <p:cNvPr id="16" name="Rectangle 15"/>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900714"/>
            <a:ext cx="7556421" cy="1133951"/>
          </a:xfrm>
          <a:prstGeom prst="rect">
            <a:avLst/>
          </a:prstGeom>
          <a:noFill/>
        </p:spPr>
        <p:txBody>
          <a:bodyPr wrap="squar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Embedding Build and Centroid Storage</a:t>
            </a:r>
            <a:endParaRPr lang="en-US" sz="3550" dirty="0"/>
          </a:p>
        </p:txBody>
      </p:sp>
      <p:sp>
        <p:nvSpPr>
          <p:cNvPr id="4" name="Text 1"/>
          <p:cNvSpPr/>
          <p:nvPr/>
        </p:nvSpPr>
        <p:spPr>
          <a:xfrm>
            <a:off x="6280190" y="3374827"/>
            <a:ext cx="7556421" cy="1451610"/>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Document text is converted into embeddings and stored in SQL Server as JSON-serialised float arrays. For each class, the system computes a centroid by averaging all document vectors element-wise. These class centroids act as stable semantic prototypes for Stage 1 retrieval.</a:t>
            </a:r>
            <a:endParaRPr lang="en-US" sz="1750" dirty="0"/>
          </a:p>
        </p:txBody>
      </p:sp>
      <p:sp>
        <p:nvSpPr>
          <p:cNvPr id="5" name="Text 2"/>
          <p:cNvSpPr/>
          <p:nvPr/>
        </p:nvSpPr>
        <p:spPr>
          <a:xfrm>
            <a:off x="6280190" y="5081588"/>
            <a:ext cx="7556421" cy="1247299"/>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81 documents across 20 predefined categories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81 embedding records and 20 centroid records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.NET 9.0, Entity Framework Core, C# modular implementation</a:t>
            </a:r>
            <a:endParaRPr lang="en-US" sz="1750" dirty="0"/>
          </a:p>
        </p:txBody>
      </p:sp>
      <p:sp>
        <p:nvSpPr>
          <p:cNvPr id="6" name="Rectangle 5"/>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075" y="623173"/>
            <a:ext cx="6301145" cy="566499"/>
          </a:xfrm>
          <a:prstGeom prst="rect">
            <a:avLst/>
          </a:prstGeom>
          <a:noFill/>
        </p:spPr>
        <p:txBody>
          <a:bodyPr wrap="non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Two-Stage Semantic Retrieval</a:t>
            </a:r>
            <a:endParaRPr lang="en-US" sz="3550" dirty="0"/>
          </a:p>
        </p:txBody>
      </p:sp>
      <p:pic>
        <p:nvPicPr>
          <p:cNvPr id="3" name="Image 0" descr="preencoded.png"/>
          <p:cNvPicPr>
            <a:picLocks noChangeAspect="1"/>
          </p:cNvPicPr>
          <p:nvPr/>
        </p:nvPicPr>
        <p:blipFill>
          <a:blip r:embed="rId1"/>
          <a:stretch>
            <a:fillRect/>
          </a:stretch>
        </p:blipFill>
        <p:spPr>
          <a:xfrm>
            <a:off x="793075" y="1642467"/>
            <a:ext cx="13044249" cy="4623911"/>
          </a:xfrm>
          <a:prstGeom prst="rect">
            <a:avLst/>
          </a:prstGeom>
        </p:spPr>
      </p:pic>
      <p:sp>
        <p:nvSpPr>
          <p:cNvPr id="4" name="Text 1"/>
          <p:cNvSpPr/>
          <p:nvPr/>
        </p:nvSpPr>
        <p:spPr>
          <a:xfrm>
            <a:off x="1139962" y="2871401"/>
            <a:ext cx="2885553" cy="360694"/>
          </a:xfrm>
          <a:prstGeom prst="rect">
            <a:avLst/>
          </a:prstGeom>
          <a:noFill/>
        </p:spPr>
        <p:txBody>
          <a:bodyPr wrap="none" lIns="0" tIns="0" rIns="0" bIns="0" rtlCol="0" anchor="t"/>
          <a:lstStyle/>
          <a:p>
            <a:pPr marL="0" indent="0" algn="r">
              <a:lnSpc>
                <a:spcPts val="2800"/>
              </a:lnSpc>
              <a:buNone/>
            </a:pPr>
            <a:r>
              <a:rPr lang="en-US" sz="2250" dirty="0">
                <a:solidFill>
                  <a:srgbClr val="3C3939"/>
                </a:solidFill>
                <a:latin typeface="Raleway" pitchFamily="2" charset="0"/>
                <a:ea typeface="Raleway" pitchFamily="34" charset="-122"/>
                <a:cs typeface="Raleway" pitchFamily="34" charset="-120"/>
              </a:rPr>
              <a:t>Document Ranking</a:t>
            </a:r>
            <a:endParaRPr lang="en-US" sz="2250" dirty="0"/>
          </a:p>
        </p:txBody>
      </p:sp>
      <p:sp>
        <p:nvSpPr>
          <p:cNvPr id="5" name="Text 2"/>
          <p:cNvSpPr/>
          <p:nvPr/>
        </p:nvSpPr>
        <p:spPr>
          <a:xfrm>
            <a:off x="1101488" y="3334693"/>
            <a:ext cx="2924027" cy="865064"/>
          </a:xfrm>
          <a:prstGeom prst="rect">
            <a:avLst/>
          </a:prstGeom>
          <a:noFill/>
        </p:spPr>
        <p:txBody>
          <a:bodyPr wrap="square" lIns="0" tIns="0" rIns="0" bIns="0" rtlCol="0" anchor="t"/>
          <a:lstStyle/>
          <a:p>
            <a:pPr marL="0" indent="0" algn="r">
              <a:lnSpc>
                <a:spcPts val="2250"/>
              </a:lnSpc>
              <a:buNone/>
            </a:pPr>
            <a:r>
              <a:rPr lang="en-US" sz="1800" dirty="0">
                <a:solidFill>
                  <a:srgbClr val="3C3939"/>
                </a:solidFill>
                <a:latin typeface="Roboto" panose="02000000000000000000" pitchFamily="34" charset="0"/>
                <a:ea typeface="Roboto" panose="02000000000000000000" pitchFamily="34" charset="-122"/>
                <a:cs typeface="Roboto" panose="02000000000000000000" pitchFamily="34" charset="-120"/>
              </a:rPr>
              <a:t>Arranging documents based on their relevance and importance.</a:t>
            </a:r>
            <a:endParaRPr lang="en-US" sz="1800" dirty="0"/>
          </a:p>
        </p:txBody>
      </p:sp>
      <p:sp>
        <p:nvSpPr>
          <p:cNvPr id="6" name="Text 3"/>
          <p:cNvSpPr/>
          <p:nvPr/>
        </p:nvSpPr>
        <p:spPr>
          <a:xfrm>
            <a:off x="10348080" y="4028829"/>
            <a:ext cx="2885552" cy="360694"/>
          </a:xfrm>
          <a:prstGeom prst="rect">
            <a:avLst/>
          </a:prstGeom>
          <a:noFill/>
        </p:spPr>
        <p:txBody>
          <a:bodyPr wrap="none" lIns="0" tIns="0" rIns="0" bIns="0" rtlCol="0" anchor="t"/>
          <a:lstStyle/>
          <a:p>
            <a:pPr marL="0" indent="0" algn="l">
              <a:lnSpc>
                <a:spcPts val="2800"/>
              </a:lnSpc>
              <a:buNone/>
            </a:pPr>
            <a:r>
              <a:rPr lang="en-US" sz="2250" dirty="0">
                <a:solidFill>
                  <a:srgbClr val="3C3939"/>
                </a:solidFill>
                <a:latin typeface="Raleway" pitchFamily="2" charset="0"/>
                <a:ea typeface="Raleway" pitchFamily="34" charset="-122"/>
                <a:cs typeface="Raleway" pitchFamily="34" charset="-120"/>
              </a:rPr>
              <a:t>Class Selection</a:t>
            </a:r>
            <a:endParaRPr lang="en-US" sz="2250" dirty="0"/>
          </a:p>
        </p:txBody>
      </p:sp>
      <p:sp>
        <p:nvSpPr>
          <p:cNvPr id="7" name="Text 4"/>
          <p:cNvSpPr/>
          <p:nvPr/>
        </p:nvSpPr>
        <p:spPr>
          <a:xfrm>
            <a:off x="10348080" y="4492120"/>
            <a:ext cx="3180519" cy="576709"/>
          </a:xfrm>
          <a:prstGeom prst="rect">
            <a:avLst/>
          </a:prstGeom>
          <a:noFill/>
        </p:spPr>
        <p:txBody>
          <a:bodyPr wrap="square" lIns="0" tIns="0" rIns="0" bIns="0" rtlCol="0" anchor="t"/>
          <a:lstStyle/>
          <a:p>
            <a:pPr marL="0" indent="0" algn="l">
              <a:lnSpc>
                <a:spcPts val="2250"/>
              </a:lnSpc>
              <a:buNone/>
            </a:pPr>
            <a:r>
              <a:rPr lang="en-US" sz="1800" dirty="0">
                <a:solidFill>
                  <a:srgbClr val="3C3939"/>
                </a:solidFill>
                <a:latin typeface="Roboto" panose="02000000000000000000" pitchFamily="34" charset="0"/>
                <a:ea typeface="Roboto" panose="02000000000000000000" pitchFamily="34" charset="-122"/>
                <a:cs typeface="Roboto" panose="02000000000000000000" pitchFamily="34" charset="-120"/>
              </a:rPr>
              <a:t>The initial phase of choosing the appropriate category.</a:t>
            </a:r>
            <a:endParaRPr lang="en-US" sz="1800" dirty="0"/>
          </a:p>
        </p:txBody>
      </p:sp>
      <p:sp>
        <p:nvSpPr>
          <p:cNvPr id="8" name="Text 5"/>
          <p:cNvSpPr/>
          <p:nvPr/>
        </p:nvSpPr>
        <p:spPr>
          <a:xfrm>
            <a:off x="793075" y="6521053"/>
            <a:ext cx="13044249" cy="1086922"/>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The query embedding is first matched against all class centroids to identify the best category. The system then narrows the search to documents in that class, improving precision and reducing comparisons from full corpus search to a focused semantic shortlist.</a:t>
            </a:r>
            <a:endParaRPr lang="en-US" sz="1750" dirty="0"/>
          </a:p>
        </p:txBody>
      </p:sp>
      <p:sp>
        <p:nvSpPr>
          <p:cNvPr id="9" name="Rectangle 8"/>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336477"/>
            <a:ext cx="4536519" cy="566976"/>
          </a:xfrm>
          <a:prstGeom prst="rect">
            <a:avLst/>
          </a:prstGeom>
          <a:noFill/>
        </p:spPr>
        <p:txBody>
          <a:bodyPr wrap="non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System Architecture</a:t>
            </a:r>
            <a:endParaRPr lang="en-US" sz="3550" dirty="0"/>
          </a:p>
        </p:txBody>
      </p:sp>
      <p:sp>
        <p:nvSpPr>
          <p:cNvPr id="4" name="Text 1"/>
          <p:cNvSpPr/>
          <p:nvPr/>
        </p:nvSpPr>
        <p:spPr>
          <a:xfrm>
            <a:off x="6280190" y="2447687"/>
            <a:ext cx="3501509" cy="362903"/>
          </a:xfrm>
          <a:prstGeom prst="rect">
            <a:avLst/>
          </a:prstGeom>
          <a:noFill/>
        </p:spPr>
        <p:txBody>
          <a:bodyPr wrap="none" lIns="0" tIns="0" rIns="0" bIns="0" rtlCol="0" anchor="t"/>
          <a:lstStyle/>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Classifier module</a:t>
            </a:r>
            <a:endParaRPr lang="en-US" sz="1750" dirty="0"/>
          </a:p>
        </p:txBody>
      </p:sp>
      <p:sp>
        <p:nvSpPr>
          <p:cNvPr id="5" name="Text 2"/>
          <p:cNvSpPr/>
          <p:nvPr/>
        </p:nvSpPr>
        <p:spPr>
          <a:xfrm>
            <a:off x="6280190" y="3014663"/>
            <a:ext cx="3501509" cy="1451610"/>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Handles offline processing: document pre-processing, embedding generation, centroid computation, and persistence.</a:t>
            </a:r>
            <a:endParaRPr lang="en-US" sz="1750" dirty="0"/>
          </a:p>
        </p:txBody>
      </p:sp>
      <p:sp>
        <p:nvSpPr>
          <p:cNvPr id="6" name="Text 3"/>
          <p:cNvSpPr/>
          <p:nvPr/>
        </p:nvSpPr>
        <p:spPr>
          <a:xfrm>
            <a:off x="6280190" y="4670346"/>
            <a:ext cx="3501509" cy="362903"/>
          </a:xfrm>
          <a:prstGeom prst="rect">
            <a:avLst/>
          </a:prstGeom>
          <a:noFill/>
        </p:spPr>
        <p:txBody>
          <a:bodyPr wrap="none" lIns="0" tIns="0" rIns="0" bIns="0" rtlCol="0" anchor="t"/>
          <a:lstStyle/>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Agent module</a:t>
            </a:r>
            <a:endParaRPr lang="en-US" sz="1750" dirty="0"/>
          </a:p>
        </p:txBody>
      </p:sp>
      <p:sp>
        <p:nvSpPr>
          <p:cNvPr id="7" name="Text 4"/>
          <p:cNvSpPr/>
          <p:nvPr/>
        </p:nvSpPr>
        <p:spPr>
          <a:xfrm>
            <a:off x="6280190" y="5237321"/>
            <a:ext cx="3501509" cy="1451610"/>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Handles interactive queries: intent embedding, similarity matching, result formatting, and startup modes.</a:t>
            </a:r>
            <a:endParaRPr lang="en-US" sz="1750" dirty="0"/>
          </a:p>
        </p:txBody>
      </p:sp>
      <p:sp>
        <p:nvSpPr>
          <p:cNvPr id="8" name="Text 5"/>
          <p:cNvSpPr/>
          <p:nvPr/>
        </p:nvSpPr>
        <p:spPr>
          <a:xfrm>
            <a:off x="10342721" y="2447687"/>
            <a:ext cx="3501509" cy="362903"/>
          </a:xfrm>
          <a:prstGeom prst="rect">
            <a:avLst/>
          </a:prstGeom>
          <a:noFill/>
        </p:spPr>
        <p:txBody>
          <a:bodyPr wrap="none" lIns="0" tIns="0" rIns="0" bIns="0" rtlCol="0" anchor="t"/>
          <a:lstStyle/>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Shared foundation</a:t>
            </a:r>
            <a:endParaRPr lang="en-US" sz="1750" dirty="0"/>
          </a:p>
        </p:txBody>
      </p:sp>
      <p:sp>
        <p:nvSpPr>
          <p:cNvPr id="9" name="Text 6"/>
          <p:cNvSpPr/>
          <p:nvPr/>
        </p:nvSpPr>
        <p:spPr>
          <a:xfrm>
            <a:off x="10342721" y="3014663"/>
            <a:ext cx="3501509" cy="1451610"/>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Both executables use the same SQL Server database through Entity Framework Core and the same cosine similarity logic.</a:t>
            </a:r>
            <a:endParaRPr lang="en-US" sz="1750" dirty="0"/>
          </a:p>
        </p:txBody>
      </p:sp>
      <p:sp>
        <p:nvSpPr>
          <p:cNvPr id="10" name="Text 7"/>
          <p:cNvSpPr/>
          <p:nvPr/>
        </p:nvSpPr>
        <p:spPr>
          <a:xfrm>
            <a:off x="10342721" y="4670346"/>
            <a:ext cx="3501509" cy="362903"/>
          </a:xfrm>
          <a:prstGeom prst="rect">
            <a:avLst/>
          </a:prstGeom>
          <a:noFill/>
        </p:spPr>
        <p:txBody>
          <a:bodyPr wrap="none" lIns="0" tIns="0" rIns="0" bIns="0" rtlCol="0" anchor="t"/>
          <a:lstStyle/>
          <a:p>
            <a:pPr marL="0" indent="0" algn="l">
              <a:lnSpc>
                <a:spcPts val="2850"/>
              </a:lnSpc>
              <a:buNone/>
            </a:pPr>
            <a:r>
              <a:rPr lang="en-US" sz="1750" b="1" dirty="0">
                <a:solidFill>
                  <a:srgbClr val="3C3939"/>
                </a:solidFill>
                <a:latin typeface="Roboto" panose="02000000000000000000" pitchFamily="34" charset="0"/>
                <a:ea typeface="Roboto" panose="02000000000000000000" pitchFamily="34" charset="-122"/>
                <a:cs typeface="Roboto" panose="02000000000000000000" pitchFamily="34" charset="-120"/>
              </a:rPr>
              <a:t>Design benefit</a:t>
            </a:r>
            <a:endParaRPr lang="en-US" sz="1750" dirty="0"/>
          </a:p>
        </p:txBody>
      </p:sp>
      <p:sp>
        <p:nvSpPr>
          <p:cNvPr id="11" name="Text 8"/>
          <p:cNvSpPr/>
          <p:nvPr/>
        </p:nvSpPr>
        <p:spPr>
          <a:xfrm>
            <a:off x="10342721" y="5237321"/>
            <a:ext cx="3501509" cy="1088708"/>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Clear separation improves maintainability, extensibility, and testing.</a:t>
            </a:r>
            <a:endParaRPr lang="en-US" sz="1750" dirty="0"/>
          </a:p>
        </p:txBody>
      </p:sp>
      <p:sp>
        <p:nvSpPr>
          <p:cNvPr id="12" name="Rectangle 11"/>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3206" y="625793"/>
            <a:ext cx="3782378" cy="466130"/>
          </a:xfrm>
          <a:prstGeom prst="rect">
            <a:avLst/>
          </a:prstGeom>
          <a:noFill/>
        </p:spPr>
        <p:txBody>
          <a:bodyPr wrap="none" lIns="0" tIns="0" rIns="0" bIns="0" rtlCol="0" anchor="t"/>
          <a:lstStyle/>
          <a:p>
            <a:pPr marL="0" indent="0" algn="l">
              <a:lnSpc>
                <a:spcPts val="3650"/>
              </a:lnSpc>
              <a:buNone/>
            </a:pPr>
            <a:r>
              <a:rPr lang="en-US" sz="2900" dirty="0">
                <a:solidFill>
                  <a:srgbClr val="1B1B27"/>
                </a:solidFill>
                <a:latin typeface="Raleway" pitchFamily="2" charset="0"/>
                <a:ea typeface="Raleway" pitchFamily="34" charset="-122"/>
                <a:cs typeface="Raleway" pitchFamily="34" charset="-120"/>
              </a:rPr>
              <a:t>Implementation Stack</a:t>
            </a:r>
            <a:endParaRPr lang="en-US" sz="2900" dirty="0"/>
          </a:p>
        </p:txBody>
      </p:sp>
      <p:sp>
        <p:nvSpPr>
          <p:cNvPr id="3" name="Shape 1"/>
          <p:cNvSpPr/>
          <p:nvPr/>
        </p:nvSpPr>
        <p:spPr>
          <a:xfrm>
            <a:off x="883206" y="1398270"/>
            <a:ext cx="12863870" cy="1118592"/>
          </a:xfrm>
          <a:prstGeom prst="roundRect">
            <a:avLst>
              <a:gd name="adj" fmla="val 7000"/>
            </a:avLst>
          </a:prstGeom>
          <a:solidFill>
            <a:srgbClr val="FFFFFF">
              <a:alpha val="95000"/>
            </a:srgbClr>
          </a:solidFill>
          <a:ln w="22860">
            <a:solidFill>
              <a:srgbClr val="C7C7D0"/>
            </a:solidFill>
            <a:prstDash val="solid"/>
          </a:ln>
        </p:spPr>
        <p:txBody>
          <a:bodyPr/>
          <a:lstStyle/>
          <a:p>
            <a:endParaRPr lang="en-IN"/>
          </a:p>
        </p:txBody>
      </p:sp>
      <p:sp>
        <p:nvSpPr>
          <p:cNvPr id="4" name="Shape 2"/>
          <p:cNvSpPr/>
          <p:nvPr/>
        </p:nvSpPr>
        <p:spPr>
          <a:xfrm>
            <a:off x="906066" y="1421130"/>
            <a:ext cx="745688" cy="1072872"/>
          </a:xfrm>
          <a:prstGeom prst="roundRect">
            <a:avLst>
              <a:gd name="adj" fmla="val 6822"/>
            </a:avLst>
          </a:prstGeom>
          <a:solidFill>
            <a:srgbClr val="E1E1EA"/>
          </a:solidFill>
        </p:spPr>
        <p:txBody>
          <a:bodyPr/>
          <a:lstStyle/>
          <a:p>
            <a:endParaRPr lang="en-IN"/>
          </a:p>
        </p:txBody>
      </p:sp>
      <p:sp>
        <p:nvSpPr>
          <p:cNvPr id="5" name="Text 3"/>
          <p:cNvSpPr/>
          <p:nvPr/>
        </p:nvSpPr>
        <p:spPr>
          <a:xfrm>
            <a:off x="1804868" y="1607463"/>
            <a:ext cx="2330410" cy="291227"/>
          </a:xfrm>
          <a:prstGeom prst="rect">
            <a:avLst/>
          </a:prstGeom>
          <a:noFill/>
        </p:spPr>
        <p:txBody>
          <a:bodyPr wrap="none" lIns="0" tIns="0" rIns="0" bIns="0" rtlCol="0" anchor="t"/>
          <a:lstStyle/>
          <a:p>
            <a:pPr marL="0" indent="0" algn="l">
              <a:lnSpc>
                <a:spcPts val="2250"/>
              </a:lnSpc>
              <a:buNone/>
            </a:pPr>
            <a:r>
              <a:rPr lang="en-US" sz="1800" dirty="0">
                <a:solidFill>
                  <a:srgbClr val="3C3939"/>
                </a:solidFill>
                <a:latin typeface="Raleway" pitchFamily="2" charset="0"/>
                <a:ea typeface="Raleway" pitchFamily="34" charset="-122"/>
                <a:cs typeface="Raleway" pitchFamily="34" charset="-120"/>
              </a:rPr>
              <a:t>C# / .NET 9.0</a:t>
            </a:r>
            <a:endParaRPr lang="en-US" sz="1800" dirty="0"/>
          </a:p>
        </p:txBody>
      </p:sp>
      <p:sp>
        <p:nvSpPr>
          <p:cNvPr id="6" name="Text 4"/>
          <p:cNvSpPr/>
          <p:nvPr/>
        </p:nvSpPr>
        <p:spPr>
          <a:xfrm>
            <a:off x="1804868" y="1990606"/>
            <a:ext cx="11733014" cy="271701"/>
          </a:xfrm>
          <a:prstGeom prst="rect">
            <a:avLst/>
          </a:prstGeom>
          <a:noFill/>
        </p:spPr>
        <p:txBody>
          <a:bodyPr wrap="none" lIns="0" tIns="0" rIns="0" bIns="0" rtlCol="0" anchor="t"/>
          <a:lstStyle/>
          <a:p>
            <a:pPr marL="0" indent="0" algn="l">
              <a:lnSpc>
                <a:spcPts val="2100"/>
              </a:lnSpc>
              <a:buNone/>
            </a:pPr>
            <a:r>
              <a:rPr lang="en-US" sz="1450" dirty="0">
                <a:solidFill>
                  <a:srgbClr val="3C3939"/>
                </a:solidFill>
                <a:latin typeface="Roboto" panose="02000000000000000000" pitchFamily="34" charset="0"/>
                <a:ea typeface="Roboto" panose="02000000000000000000" pitchFamily="34" charset="-122"/>
                <a:cs typeface="Roboto" panose="02000000000000000000" pitchFamily="34" charset="-120"/>
              </a:rPr>
              <a:t>Application runtime and solution structure</a:t>
            </a:r>
            <a:endParaRPr lang="en-US" sz="1450" dirty="0"/>
          </a:p>
        </p:txBody>
      </p:sp>
      <p:sp>
        <p:nvSpPr>
          <p:cNvPr id="7" name="Shape 5"/>
          <p:cNvSpPr/>
          <p:nvPr/>
        </p:nvSpPr>
        <p:spPr>
          <a:xfrm>
            <a:off x="883206" y="2669977"/>
            <a:ext cx="12863870" cy="1118592"/>
          </a:xfrm>
          <a:prstGeom prst="roundRect">
            <a:avLst>
              <a:gd name="adj" fmla="val 7000"/>
            </a:avLst>
          </a:prstGeom>
          <a:solidFill>
            <a:srgbClr val="FFFFFF">
              <a:alpha val="95000"/>
            </a:srgbClr>
          </a:solidFill>
          <a:ln w="22860">
            <a:solidFill>
              <a:srgbClr val="C7C7D0"/>
            </a:solidFill>
            <a:prstDash val="solid"/>
          </a:ln>
        </p:spPr>
        <p:txBody>
          <a:bodyPr/>
          <a:lstStyle/>
          <a:p>
            <a:endParaRPr lang="en-IN"/>
          </a:p>
        </p:txBody>
      </p:sp>
      <p:sp>
        <p:nvSpPr>
          <p:cNvPr id="8" name="Shape 6"/>
          <p:cNvSpPr/>
          <p:nvPr/>
        </p:nvSpPr>
        <p:spPr>
          <a:xfrm>
            <a:off x="906066" y="2692837"/>
            <a:ext cx="745688" cy="1072872"/>
          </a:xfrm>
          <a:prstGeom prst="roundRect">
            <a:avLst>
              <a:gd name="adj" fmla="val 6822"/>
            </a:avLst>
          </a:prstGeom>
          <a:solidFill>
            <a:srgbClr val="E1E1EA"/>
          </a:solidFill>
        </p:spPr>
        <p:txBody>
          <a:bodyPr/>
          <a:lstStyle/>
          <a:p>
            <a:endParaRPr lang="en-IN"/>
          </a:p>
        </p:txBody>
      </p:sp>
      <p:sp>
        <p:nvSpPr>
          <p:cNvPr id="9" name="Text 7"/>
          <p:cNvSpPr/>
          <p:nvPr/>
        </p:nvSpPr>
        <p:spPr>
          <a:xfrm>
            <a:off x="1804868" y="2879169"/>
            <a:ext cx="2330410" cy="291227"/>
          </a:xfrm>
          <a:prstGeom prst="rect">
            <a:avLst/>
          </a:prstGeom>
          <a:noFill/>
        </p:spPr>
        <p:txBody>
          <a:bodyPr wrap="none" lIns="0" tIns="0" rIns="0" bIns="0" rtlCol="0" anchor="t"/>
          <a:lstStyle/>
          <a:p>
            <a:pPr marL="0" indent="0" algn="l">
              <a:lnSpc>
                <a:spcPts val="2250"/>
              </a:lnSpc>
              <a:buNone/>
            </a:pPr>
            <a:r>
              <a:rPr lang="en-US" sz="1800" dirty="0">
                <a:solidFill>
                  <a:srgbClr val="3C3939"/>
                </a:solidFill>
                <a:latin typeface="Raleway" pitchFamily="2" charset="0"/>
                <a:ea typeface="Raleway" pitchFamily="34" charset="-122"/>
                <a:cs typeface="Raleway" pitchFamily="34" charset="-120"/>
              </a:rPr>
              <a:t>SQL Server</a:t>
            </a:r>
            <a:endParaRPr lang="en-US" sz="1800" dirty="0"/>
          </a:p>
        </p:txBody>
      </p:sp>
      <p:sp>
        <p:nvSpPr>
          <p:cNvPr id="10" name="Text 8"/>
          <p:cNvSpPr/>
          <p:nvPr/>
        </p:nvSpPr>
        <p:spPr>
          <a:xfrm>
            <a:off x="1804868" y="3262313"/>
            <a:ext cx="11733014" cy="271701"/>
          </a:xfrm>
          <a:prstGeom prst="rect">
            <a:avLst/>
          </a:prstGeom>
          <a:noFill/>
        </p:spPr>
        <p:txBody>
          <a:bodyPr wrap="none" lIns="0" tIns="0" rIns="0" bIns="0" rtlCol="0" anchor="t"/>
          <a:lstStyle/>
          <a:p>
            <a:pPr marL="0" indent="0" algn="l">
              <a:lnSpc>
                <a:spcPts val="2100"/>
              </a:lnSpc>
              <a:buNone/>
            </a:pPr>
            <a:r>
              <a:rPr lang="en-US" sz="1450" dirty="0">
                <a:solidFill>
                  <a:srgbClr val="3C3939"/>
                </a:solidFill>
                <a:latin typeface="Roboto" panose="02000000000000000000" pitchFamily="34" charset="0"/>
                <a:ea typeface="Roboto" panose="02000000000000000000" pitchFamily="34" charset="-122"/>
                <a:cs typeface="Roboto" panose="02000000000000000000" pitchFamily="34" charset="-120"/>
              </a:rPr>
              <a:t>Relational storage for documents, embeddings, and centroids</a:t>
            </a:r>
            <a:endParaRPr lang="en-US" sz="1450" dirty="0"/>
          </a:p>
        </p:txBody>
      </p:sp>
      <p:sp>
        <p:nvSpPr>
          <p:cNvPr id="11" name="Shape 9"/>
          <p:cNvSpPr/>
          <p:nvPr/>
        </p:nvSpPr>
        <p:spPr>
          <a:xfrm>
            <a:off x="883206" y="3941683"/>
            <a:ext cx="12863870" cy="1118592"/>
          </a:xfrm>
          <a:prstGeom prst="roundRect">
            <a:avLst>
              <a:gd name="adj" fmla="val 7000"/>
            </a:avLst>
          </a:prstGeom>
          <a:solidFill>
            <a:srgbClr val="FFFFFF">
              <a:alpha val="95000"/>
            </a:srgbClr>
          </a:solidFill>
          <a:ln w="22860">
            <a:solidFill>
              <a:srgbClr val="C7C7D0"/>
            </a:solidFill>
            <a:prstDash val="solid"/>
          </a:ln>
        </p:spPr>
        <p:txBody>
          <a:bodyPr/>
          <a:lstStyle/>
          <a:p>
            <a:endParaRPr lang="en-IN"/>
          </a:p>
        </p:txBody>
      </p:sp>
      <p:sp>
        <p:nvSpPr>
          <p:cNvPr id="12" name="Shape 10"/>
          <p:cNvSpPr/>
          <p:nvPr/>
        </p:nvSpPr>
        <p:spPr>
          <a:xfrm>
            <a:off x="906066" y="3964543"/>
            <a:ext cx="745688" cy="1072872"/>
          </a:xfrm>
          <a:prstGeom prst="roundRect">
            <a:avLst>
              <a:gd name="adj" fmla="val 6822"/>
            </a:avLst>
          </a:prstGeom>
          <a:solidFill>
            <a:srgbClr val="E1E1EA"/>
          </a:solidFill>
        </p:spPr>
        <p:txBody>
          <a:bodyPr/>
          <a:lstStyle/>
          <a:p>
            <a:endParaRPr lang="en-IN"/>
          </a:p>
        </p:txBody>
      </p:sp>
      <p:sp>
        <p:nvSpPr>
          <p:cNvPr id="13" name="Text 11"/>
          <p:cNvSpPr/>
          <p:nvPr/>
        </p:nvSpPr>
        <p:spPr>
          <a:xfrm>
            <a:off x="1804868" y="4150876"/>
            <a:ext cx="2646045" cy="291227"/>
          </a:xfrm>
          <a:prstGeom prst="rect">
            <a:avLst/>
          </a:prstGeom>
          <a:noFill/>
        </p:spPr>
        <p:txBody>
          <a:bodyPr wrap="none" lIns="0" tIns="0" rIns="0" bIns="0" rtlCol="0" anchor="t"/>
          <a:lstStyle/>
          <a:p>
            <a:pPr marL="0" indent="0" algn="l">
              <a:lnSpc>
                <a:spcPts val="2250"/>
              </a:lnSpc>
              <a:buNone/>
            </a:pPr>
            <a:r>
              <a:rPr lang="en-US" sz="1800" dirty="0">
                <a:solidFill>
                  <a:srgbClr val="3C3939"/>
                </a:solidFill>
                <a:latin typeface="Raleway" pitchFamily="2" charset="0"/>
                <a:ea typeface="Raleway" pitchFamily="34" charset="-122"/>
                <a:cs typeface="Raleway" pitchFamily="34" charset="-120"/>
              </a:rPr>
              <a:t>OpenAI Embeddings API</a:t>
            </a:r>
            <a:endParaRPr lang="en-US" sz="1800" dirty="0"/>
          </a:p>
        </p:txBody>
      </p:sp>
      <p:sp>
        <p:nvSpPr>
          <p:cNvPr id="14" name="Text 12"/>
          <p:cNvSpPr/>
          <p:nvPr/>
        </p:nvSpPr>
        <p:spPr>
          <a:xfrm>
            <a:off x="1804868" y="4534019"/>
            <a:ext cx="11733014" cy="271701"/>
          </a:xfrm>
          <a:prstGeom prst="rect">
            <a:avLst/>
          </a:prstGeom>
          <a:noFill/>
        </p:spPr>
        <p:txBody>
          <a:bodyPr wrap="none" lIns="0" tIns="0" rIns="0" bIns="0" rtlCol="0" anchor="t"/>
          <a:lstStyle/>
          <a:p>
            <a:pPr marL="0" indent="0" algn="l">
              <a:lnSpc>
                <a:spcPts val="2100"/>
              </a:lnSpc>
              <a:buNone/>
            </a:pPr>
            <a:r>
              <a:rPr lang="en-US" sz="1450" dirty="0">
                <a:solidFill>
                  <a:srgbClr val="3C3939"/>
                </a:solidFill>
                <a:latin typeface="Roboto" panose="02000000000000000000" pitchFamily="34" charset="0"/>
                <a:ea typeface="Roboto" panose="02000000000000000000" pitchFamily="34" charset="-122"/>
                <a:cs typeface="Roboto" panose="02000000000000000000" pitchFamily="34" charset="-120"/>
              </a:rPr>
              <a:t>Semantic vector generation for documents and queries</a:t>
            </a:r>
            <a:endParaRPr lang="en-US" sz="1450" dirty="0"/>
          </a:p>
        </p:txBody>
      </p:sp>
      <p:sp>
        <p:nvSpPr>
          <p:cNvPr id="15" name="Shape 13"/>
          <p:cNvSpPr/>
          <p:nvPr/>
        </p:nvSpPr>
        <p:spPr>
          <a:xfrm>
            <a:off x="883206" y="5213390"/>
            <a:ext cx="12863870" cy="1118592"/>
          </a:xfrm>
          <a:prstGeom prst="roundRect">
            <a:avLst>
              <a:gd name="adj" fmla="val 7000"/>
            </a:avLst>
          </a:prstGeom>
          <a:solidFill>
            <a:srgbClr val="FFFFFF">
              <a:alpha val="95000"/>
            </a:srgbClr>
          </a:solidFill>
          <a:ln w="22860">
            <a:solidFill>
              <a:srgbClr val="C7C7D0"/>
            </a:solidFill>
            <a:prstDash val="solid"/>
          </a:ln>
        </p:spPr>
        <p:txBody>
          <a:bodyPr/>
          <a:lstStyle/>
          <a:p>
            <a:endParaRPr lang="en-IN"/>
          </a:p>
        </p:txBody>
      </p:sp>
      <p:sp>
        <p:nvSpPr>
          <p:cNvPr id="16" name="Shape 14"/>
          <p:cNvSpPr/>
          <p:nvPr/>
        </p:nvSpPr>
        <p:spPr>
          <a:xfrm>
            <a:off x="906066" y="5236250"/>
            <a:ext cx="745688" cy="1072872"/>
          </a:xfrm>
          <a:prstGeom prst="roundRect">
            <a:avLst>
              <a:gd name="adj" fmla="val 6822"/>
            </a:avLst>
          </a:prstGeom>
          <a:solidFill>
            <a:srgbClr val="E1E1EA"/>
          </a:solidFill>
        </p:spPr>
        <p:txBody>
          <a:bodyPr/>
          <a:lstStyle/>
          <a:p>
            <a:endParaRPr lang="en-IN"/>
          </a:p>
        </p:txBody>
      </p:sp>
      <p:sp>
        <p:nvSpPr>
          <p:cNvPr id="17" name="Text 15"/>
          <p:cNvSpPr/>
          <p:nvPr/>
        </p:nvSpPr>
        <p:spPr>
          <a:xfrm>
            <a:off x="1804868" y="5422583"/>
            <a:ext cx="3300532" cy="291227"/>
          </a:xfrm>
          <a:prstGeom prst="rect">
            <a:avLst/>
          </a:prstGeom>
          <a:noFill/>
        </p:spPr>
        <p:txBody>
          <a:bodyPr wrap="none" lIns="0" tIns="0" rIns="0" bIns="0" rtlCol="0" anchor="t"/>
          <a:lstStyle/>
          <a:p>
            <a:pPr marL="0" indent="0" algn="l">
              <a:lnSpc>
                <a:spcPts val="2250"/>
              </a:lnSpc>
              <a:buNone/>
            </a:pPr>
            <a:r>
              <a:rPr lang="en-US" sz="1800" dirty="0">
                <a:solidFill>
                  <a:srgbClr val="3C3939"/>
                </a:solidFill>
                <a:latin typeface="Raleway" pitchFamily="2" charset="0"/>
                <a:ea typeface="Raleway" pitchFamily="34" charset="-122"/>
                <a:cs typeface="Raleway" pitchFamily="34" charset="-120"/>
              </a:rPr>
              <a:t>Daenet Parser + Tesseract OCR</a:t>
            </a:r>
            <a:endParaRPr lang="en-US" sz="1800" dirty="0"/>
          </a:p>
        </p:txBody>
      </p:sp>
      <p:sp>
        <p:nvSpPr>
          <p:cNvPr id="18" name="Text 16"/>
          <p:cNvSpPr/>
          <p:nvPr/>
        </p:nvSpPr>
        <p:spPr>
          <a:xfrm>
            <a:off x="1804868" y="5805726"/>
            <a:ext cx="11733014" cy="271701"/>
          </a:xfrm>
          <a:prstGeom prst="rect">
            <a:avLst/>
          </a:prstGeom>
          <a:noFill/>
        </p:spPr>
        <p:txBody>
          <a:bodyPr wrap="none" lIns="0" tIns="0" rIns="0" bIns="0" rtlCol="0" anchor="t"/>
          <a:lstStyle/>
          <a:p>
            <a:pPr marL="0" indent="0" algn="l">
              <a:lnSpc>
                <a:spcPts val="2100"/>
              </a:lnSpc>
              <a:buNone/>
            </a:pPr>
            <a:r>
              <a:rPr lang="en-US" sz="1450" dirty="0">
                <a:solidFill>
                  <a:srgbClr val="3C3939"/>
                </a:solidFill>
                <a:latin typeface="Roboto" panose="02000000000000000000" pitchFamily="34" charset="0"/>
                <a:ea typeface="Roboto" panose="02000000000000000000" pitchFamily="34" charset="-122"/>
                <a:cs typeface="Roboto" panose="02000000000000000000" pitchFamily="34" charset="-120"/>
              </a:rPr>
              <a:t>Text extraction across machine-readable and scanned files</a:t>
            </a:r>
            <a:endParaRPr lang="en-US" sz="1450" dirty="0"/>
          </a:p>
        </p:txBody>
      </p:sp>
      <p:sp>
        <p:nvSpPr>
          <p:cNvPr id="19" name="Shape 17"/>
          <p:cNvSpPr/>
          <p:nvPr/>
        </p:nvSpPr>
        <p:spPr>
          <a:xfrm>
            <a:off x="883206" y="6485096"/>
            <a:ext cx="12863870" cy="1118592"/>
          </a:xfrm>
          <a:prstGeom prst="roundRect">
            <a:avLst>
              <a:gd name="adj" fmla="val 7000"/>
            </a:avLst>
          </a:prstGeom>
          <a:solidFill>
            <a:srgbClr val="FFFFFF">
              <a:alpha val="95000"/>
            </a:srgbClr>
          </a:solidFill>
          <a:ln w="22860">
            <a:solidFill>
              <a:srgbClr val="C7C7D0"/>
            </a:solidFill>
            <a:prstDash val="solid"/>
          </a:ln>
        </p:spPr>
        <p:txBody>
          <a:bodyPr/>
          <a:lstStyle/>
          <a:p>
            <a:endParaRPr lang="en-IN"/>
          </a:p>
        </p:txBody>
      </p:sp>
      <p:sp>
        <p:nvSpPr>
          <p:cNvPr id="20" name="Shape 18"/>
          <p:cNvSpPr/>
          <p:nvPr/>
        </p:nvSpPr>
        <p:spPr>
          <a:xfrm>
            <a:off x="906066" y="6507956"/>
            <a:ext cx="745688" cy="1072872"/>
          </a:xfrm>
          <a:prstGeom prst="roundRect">
            <a:avLst>
              <a:gd name="adj" fmla="val 6822"/>
            </a:avLst>
          </a:prstGeom>
          <a:solidFill>
            <a:srgbClr val="E1E1EA"/>
          </a:solidFill>
        </p:spPr>
        <p:txBody>
          <a:bodyPr/>
          <a:lstStyle/>
          <a:p>
            <a:endParaRPr lang="en-IN"/>
          </a:p>
        </p:txBody>
      </p:sp>
      <p:sp>
        <p:nvSpPr>
          <p:cNvPr id="21" name="Text 19"/>
          <p:cNvSpPr/>
          <p:nvPr/>
        </p:nvSpPr>
        <p:spPr>
          <a:xfrm>
            <a:off x="1804868" y="6694289"/>
            <a:ext cx="3241358" cy="291227"/>
          </a:xfrm>
          <a:prstGeom prst="rect">
            <a:avLst/>
          </a:prstGeom>
          <a:noFill/>
        </p:spPr>
        <p:txBody>
          <a:bodyPr wrap="none" lIns="0" tIns="0" rIns="0" bIns="0" rtlCol="0" anchor="t"/>
          <a:lstStyle/>
          <a:p>
            <a:pPr marL="0" indent="0" algn="l">
              <a:lnSpc>
                <a:spcPts val="2250"/>
              </a:lnSpc>
              <a:buNone/>
            </a:pPr>
            <a:r>
              <a:rPr lang="en-US" sz="1800" dirty="0">
                <a:solidFill>
                  <a:srgbClr val="3C3939"/>
                </a:solidFill>
                <a:latin typeface="Raleway" pitchFamily="2" charset="0"/>
                <a:ea typeface="Raleway" pitchFamily="34" charset="-122"/>
                <a:cs typeface="Raleway" pitchFamily="34" charset="-120"/>
              </a:rPr>
              <a:t>xUnit + Moq + Spectre.Console</a:t>
            </a:r>
            <a:endParaRPr lang="en-US" sz="1800" dirty="0"/>
          </a:p>
        </p:txBody>
      </p:sp>
      <p:sp>
        <p:nvSpPr>
          <p:cNvPr id="22" name="Text 20"/>
          <p:cNvSpPr/>
          <p:nvPr/>
        </p:nvSpPr>
        <p:spPr>
          <a:xfrm>
            <a:off x="1804868" y="7077432"/>
            <a:ext cx="11733014" cy="271701"/>
          </a:xfrm>
          <a:prstGeom prst="rect">
            <a:avLst/>
          </a:prstGeom>
          <a:noFill/>
        </p:spPr>
        <p:txBody>
          <a:bodyPr wrap="none" lIns="0" tIns="0" rIns="0" bIns="0" rtlCol="0" anchor="t"/>
          <a:lstStyle/>
          <a:p>
            <a:pPr marL="0" indent="0" algn="l">
              <a:lnSpc>
                <a:spcPts val="2100"/>
              </a:lnSpc>
              <a:buNone/>
            </a:pPr>
            <a:r>
              <a:rPr lang="en-US" sz="1450" dirty="0">
                <a:solidFill>
                  <a:srgbClr val="3C3939"/>
                </a:solidFill>
                <a:latin typeface="Roboto" panose="02000000000000000000" pitchFamily="34" charset="0"/>
                <a:ea typeface="Roboto" panose="02000000000000000000" pitchFamily="34" charset="-122"/>
                <a:cs typeface="Roboto" panose="02000000000000000000" pitchFamily="34" charset="-120"/>
              </a:rPr>
              <a:t>Testing, mocking, and interactive console experience</a:t>
            </a:r>
            <a:endParaRPr lang="en-US" sz="1450" dirty="0"/>
          </a:p>
        </p:txBody>
      </p:sp>
      <p:sp>
        <p:nvSpPr>
          <p:cNvPr id="23" name="Rectangle 22"/>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2352" y="1729264"/>
            <a:ext cx="4128135" cy="515898"/>
          </a:xfrm>
          <a:prstGeom prst="rect">
            <a:avLst/>
          </a:prstGeom>
          <a:noFill/>
        </p:spPr>
        <p:txBody>
          <a:bodyPr wrap="none" lIns="0" tIns="0" rIns="0" bIns="0" rtlCol="0" anchor="t"/>
          <a:lstStyle/>
          <a:p>
            <a:pPr marL="0" indent="0" algn="l">
              <a:lnSpc>
                <a:spcPts val="4050"/>
              </a:lnSpc>
              <a:buNone/>
            </a:pPr>
            <a:r>
              <a:rPr lang="en-US" sz="3250" dirty="0">
                <a:solidFill>
                  <a:srgbClr val="1B1B27"/>
                </a:solidFill>
                <a:latin typeface="Raleway" pitchFamily="2" charset="0"/>
                <a:ea typeface="Raleway" pitchFamily="34" charset="-122"/>
                <a:cs typeface="Raleway" pitchFamily="34" charset="-120"/>
              </a:rPr>
              <a:t>Evaluation Highlights</a:t>
            </a:r>
            <a:endParaRPr lang="en-US" sz="3250" dirty="0"/>
          </a:p>
        </p:txBody>
      </p:sp>
      <p:pic>
        <p:nvPicPr>
          <p:cNvPr id="3" name="Image 0" descr="preencoded.png"/>
          <p:cNvPicPr>
            <a:picLocks noChangeAspect="1"/>
          </p:cNvPicPr>
          <p:nvPr/>
        </p:nvPicPr>
        <p:blipFill>
          <a:blip r:embed="rId1"/>
          <a:stretch>
            <a:fillRect/>
          </a:stretch>
        </p:blipFill>
        <p:spPr>
          <a:xfrm>
            <a:off x="722352" y="2738080"/>
            <a:ext cx="6339840" cy="3603698"/>
          </a:xfrm>
          <a:prstGeom prst="rect">
            <a:avLst/>
          </a:prstGeom>
        </p:spPr>
      </p:pic>
      <p:sp>
        <p:nvSpPr>
          <p:cNvPr id="4" name="Text 1"/>
          <p:cNvSpPr/>
          <p:nvPr/>
        </p:nvSpPr>
        <p:spPr>
          <a:xfrm>
            <a:off x="6423312" y="3206269"/>
            <a:ext cx="154455" cy="158496"/>
          </a:xfrm>
          <a:prstGeom prst="rect">
            <a:avLst/>
          </a:prstGeom>
          <a:noFill/>
        </p:spPr>
        <p:txBody>
          <a:bodyPr wrap="square" lIns="30480" tIns="30480" rIns="30480" bIns="30480" rtlCol="0" anchor="t"/>
          <a:lstStyle/>
          <a:p>
            <a:pPr marL="0" indent="0" algn="l">
              <a:lnSpc>
                <a:spcPts val="650"/>
              </a:lnSpc>
              <a:buNone/>
            </a:pPr>
            <a:r>
              <a:rPr lang="en-US" sz="650" dirty="0">
                <a:solidFill>
                  <a:srgbClr val="FFFFFF"/>
                </a:solidFill>
              </a:rPr>
              <a:t>81</a:t>
            </a:r>
            <a:endParaRPr lang="en-US" sz="650" dirty="0"/>
          </a:p>
        </p:txBody>
      </p:sp>
      <p:sp>
        <p:nvSpPr>
          <p:cNvPr id="5" name="Text 2"/>
          <p:cNvSpPr/>
          <p:nvPr/>
        </p:nvSpPr>
        <p:spPr>
          <a:xfrm>
            <a:off x="2752438" y="3992493"/>
            <a:ext cx="154455" cy="158496"/>
          </a:xfrm>
          <a:prstGeom prst="rect">
            <a:avLst/>
          </a:prstGeom>
          <a:noFill/>
        </p:spPr>
        <p:txBody>
          <a:bodyPr wrap="square" lIns="30480" tIns="30480" rIns="30480" bIns="30480" rtlCol="0" anchor="t"/>
          <a:lstStyle/>
          <a:p>
            <a:pPr marL="0" indent="0" algn="l">
              <a:lnSpc>
                <a:spcPts val="650"/>
              </a:lnSpc>
              <a:buNone/>
            </a:pPr>
            <a:r>
              <a:rPr lang="en-US" sz="650" dirty="0">
                <a:solidFill>
                  <a:srgbClr val="FFFFFF"/>
                </a:solidFill>
              </a:rPr>
              <a:t>20</a:t>
            </a:r>
            <a:endParaRPr lang="en-US" sz="650" dirty="0"/>
          </a:p>
        </p:txBody>
      </p:sp>
      <p:sp>
        <p:nvSpPr>
          <p:cNvPr id="6" name="Text 3"/>
          <p:cNvSpPr/>
          <p:nvPr/>
        </p:nvSpPr>
        <p:spPr>
          <a:xfrm>
            <a:off x="6423312" y="4778716"/>
            <a:ext cx="154455" cy="158496"/>
          </a:xfrm>
          <a:prstGeom prst="rect">
            <a:avLst/>
          </a:prstGeom>
          <a:noFill/>
        </p:spPr>
        <p:txBody>
          <a:bodyPr wrap="square" lIns="30480" tIns="30480" rIns="30480" bIns="30480" rtlCol="0" anchor="t"/>
          <a:lstStyle/>
          <a:p>
            <a:pPr marL="0" indent="0" algn="l">
              <a:lnSpc>
                <a:spcPts val="650"/>
              </a:lnSpc>
              <a:buNone/>
            </a:pPr>
            <a:r>
              <a:rPr lang="en-US" sz="650" dirty="0">
                <a:solidFill>
                  <a:srgbClr val="FFFFFF"/>
                </a:solidFill>
              </a:rPr>
              <a:t>81</a:t>
            </a:r>
            <a:endParaRPr lang="en-US" sz="650" dirty="0"/>
          </a:p>
        </p:txBody>
      </p:sp>
      <p:sp>
        <p:nvSpPr>
          <p:cNvPr id="7" name="Text 4"/>
          <p:cNvSpPr/>
          <p:nvPr/>
        </p:nvSpPr>
        <p:spPr>
          <a:xfrm>
            <a:off x="2752438" y="5564940"/>
            <a:ext cx="154455" cy="158496"/>
          </a:xfrm>
          <a:prstGeom prst="rect">
            <a:avLst/>
          </a:prstGeom>
          <a:noFill/>
        </p:spPr>
        <p:txBody>
          <a:bodyPr wrap="square" lIns="30480" tIns="30480" rIns="30480" bIns="30480" rtlCol="0" anchor="t"/>
          <a:lstStyle/>
          <a:p>
            <a:pPr marL="0" indent="0" algn="l">
              <a:lnSpc>
                <a:spcPts val="650"/>
              </a:lnSpc>
              <a:buNone/>
            </a:pPr>
            <a:r>
              <a:rPr lang="en-US" sz="650" dirty="0">
                <a:solidFill>
                  <a:srgbClr val="000000"/>
                </a:solidFill>
              </a:rPr>
              <a:t>20</a:t>
            </a:r>
            <a:endParaRPr lang="en-US" sz="650" dirty="0"/>
          </a:p>
        </p:txBody>
      </p:sp>
      <p:sp>
        <p:nvSpPr>
          <p:cNvPr id="8" name="Text 5"/>
          <p:cNvSpPr/>
          <p:nvPr/>
        </p:nvSpPr>
        <p:spPr>
          <a:xfrm>
            <a:off x="7574637" y="2695813"/>
            <a:ext cx="6341031" cy="946190"/>
          </a:xfrm>
          <a:prstGeom prst="rect">
            <a:avLst/>
          </a:prstGeom>
          <a:noFill/>
        </p:spPr>
        <p:txBody>
          <a:bodyPr wrap="square" lIns="0" tIns="0" rIns="0" bIns="0" rtlCol="0" anchor="t"/>
          <a:lstStyle/>
          <a:p>
            <a:pPr marL="0" indent="0" algn="l">
              <a:lnSpc>
                <a:spcPts val="2450"/>
              </a:lnSpc>
              <a:buNone/>
            </a:pPr>
            <a:r>
              <a:rPr lang="en-US" sz="1600" dirty="0">
                <a:solidFill>
                  <a:srgbClr val="3C3939"/>
                </a:solidFill>
                <a:latin typeface="Roboto" panose="02000000000000000000" pitchFamily="34" charset="0"/>
                <a:ea typeface="Roboto" panose="02000000000000000000" pitchFamily="34" charset="-122"/>
                <a:cs typeface="Roboto" panose="02000000000000000000" pitchFamily="34" charset="-120"/>
              </a:rPr>
              <a:t>Representative queries were classified correctly across science, climate, energy, education, history, and space-related content. Image-based input also succeeded after OCR extraction.</a:t>
            </a:r>
            <a:endParaRPr lang="en-US" sz="1600" dirty="0"/>
          </a:p>
        </p:txBody>
      </p:sp>
      <p:sp>
        <p:nvSpPr>
          <p:cNvPr id="9" name="Text 6"/>
          <p:cNvSpPr/>
          <p:nvPr/>
        </p:nvSpPr>
        <p:spPr>
          <a:xfrm>
            <a:off x="7574637" y="3810953"/>
            <a:ext cx="6341031" cy="315397"/>
          </a:xfrm>
          <a:prstGeom prst="rect">
            <a:avLst/>
          </a:prstGeom>
          <a:noFill/>
        </p:spPr>
        <p:txBody>
          <a:bodyPr wrap="none" lIns="0" tIns="0" rIns="0" bIns="0" rtlCol="0" anchor="t"/>
          <a:lstStyle/>
          <a:p>
            <a:pPr marL="0" indent="0" algn="l">
              <a:lnSpc>
                <a:spcPts val="2450"/>
              </a:lnSpc>
              <a:buNone/>
            </a:pPr>
            <a:r>
              <a:rPr lang="en-US" sz="1600" b="1" dirty="0">
                <a:solidFill>
                  <a:srgbClr val="3C3939"/>
                </a:solidFill>
                <a:latin typeface="Roboto" panose="02000000000000000000" pitchFamily="34" charset="0"/>
                <a:ea typeface="Roboto" panose="02000000000000000000" pitchFamily="34" charset="-122"/>
                <a:cs typeface="Roboto" panose="02000000000000000000" pitchFamily="34" charset="-120"/>
              </a:rPr>
              <a:t>Observed scores</a:t>
            </a:r>
            <a:endParaRPr lang="en-US" sz="1600" dirty="0"/>
          </a:p>
        </p:txBody>
      </p:sp>
      <p:sp>
        <p:nvSpPr>
          <p:cNvPr id="10" name="Text 7"/>
          <p:cNvSpPr/>
          <p:nvPr/>
        </p:nvSpPr>
        <p:spPr>
          <a:xfrm>
            <a:off x="7574637" y="4295299"/>
            <a:ext cx="6341031" cy="1077635"/>
          </a:xfrm>
          <a:prstGeom prst="rect">
            <a:avLst/>
          </a:prstGeom>
          <a:noFill/>
        </p:spPr>
        <p:txBody>
          <a:bodyPr wrap="square" lIns="0" tIns="0" rIns="0" bIns="0" rtlCol="0" anchor="t"/>
          <a:lstStyle/>
          <a:p>
            <a:pPr marL="342900" indent="-342900" algn="l">
              <a:lnSpc>
                <a:spcPts val="2450"/>
              </a:lnSpc>
              <a:buSzPct val="100000"/>
              <a:buChar char="•"/>
            </a:pPr>
            <a:r>
              <a:rPr lang="en-US" sz="1600" dirty="0">
                <a:solidFill>
                  <a:srgbClr val="3C3939"/>
                </a:solidFill>
                <a:latin typeface="Roboto" panose="02000000000000000000" pitchFamily="34" charset="0"/>
                <a:ea typeface="Roboto" panose="02000000000000000000" pitchFamily="34" charset="-122"/>
                <a:cs typeface="Roboto" panose="02000000000000000000" pitchFamily="34" charset="-120"/>
              </a:rPr>
              <a:t>Class similarity: 0.1662 to 0.4728</a:t>
            </a:r>
            <a:endParaRPr lang="en-US" sz="1600" dirty="0"/>
          </a:p>
          <a:p>
            <a:pPr marL="342900" indent="-342900" algn="l">
              <a:lnSpc>
                <a:spcPts val="2450"/>
              </a:lnSpc>
              <a:buSzPct val="100000"/>
              <a:buChar char="•"/>
            </a:pPr>
            <a:r>
              <a:rPr lang="en-US" sz="1600" dirty="0">
                <a:solidFill>
                  <a:srgbClr val="3C3939"/>
                </a:solidFill>
                <a:latin typeface="Roboto" panose="02000000000000000000" pitchFamily="34" charset="0"/>
                <a:ea typeface="Roboto" panose="02000000000000000000" pitchFamily="34" charset="-122"/>
                <a:cs typeface="Roboto" panose="02000000000000000000" pitchFamily="34" charset="-120"/>
              </a:rPr>
              <a:t>Document similarity: up to 0.4996</a:t>
            </a:r>
            <a:endParaRPr lang="en-US" sz="1600" dirty="0"/>
          </a:p>
          <a:p>
            <a:pPr marL="342900" indent="-342900" algn="l">
              <a:lnSpc>
                <a:spcPts val="2450"/>
              </a:lnSpc>
              <a:buSzPct val="100000"/>
              <a:buChar char="•"/>
            </a:pPr>
            <a:r>
              <a:rPr lang="en-US" sz="1600" dirty="0">
                <a:solidFill>
                  <a:srgbClr val="3C3939"/>
                </a:solidFill>
                <a:latin typeface="Roboto" panose="02000000000000000000" pitchFamily="34" charset="0"/>
                <a:ea typeface="Roboto" panose="02000000000000000000" pitchFamily="34" charset="-122"/>
                <a:cs typeface="Roboto" panose="02000000000000000000" pitchFamily="34" charset="-120"/>
              </a:rPr>
              <a:t>Best OCR case: History.png → GermanHistory</a:t>
            </a:r>
            <a:endParaRPr lang="en-US" sz="1600" dirty="0"/>
          </a:p>
        </p:txBody>
      </p:sp>
      <p:sp>
        <p:nvSpPr>
          <p:cNvPr id="11" name="Rectangle 10"/>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81651"/>
            <a:ext cx="5938242" cy="566976"/>
          </a:xfrm>
          <a:prstGeom prst="rect">
            <a:avLst/>
          </a:prstGeom>
          <a:noFill/>
        </p:spPr>
        <p:txBody>
          <a:bodyPr wrap="none" lIns="0" tIns="0" rIns="0" bIns="0" rtlCol="0" anchor="t"/>
          <a:lstStyle/>
          <a:p>
            <a:pPr marL="0" indent="0" algn="l">
              <a:lnSpc>
                <a:spcPts val="4450"/>
              </a:lnSpc>
              <a:buNone/>
            </a:pPr>
            <a:r>
              <a:rPr lang="en-US" sz="3550" dirty="0">
                <a:solidFill>
                  <a:srgbClr val="1B1B27"/>
                </a:solidFill>
                <a:latin typeface="Raleway" pitchFamily="2" charset="0"/>
                <a:ea typeface="Raleway" pitchFamily="34" charset="-122"/>
                <a:cs typeface="Raleway" pitchFamily="34" charset="-120"/>
              </a:rPr>
              <a:t>Conclusion and Future Work</a:t>
            </a:r>
            <a:endParaRPr lang="en-US" sz="3550" dirty="0"/>
          </a:p>
        </p:txBody>
      </p:sp>
      <p:sp>
        <p:nvSpPr>
          <p:cNvPr id="4" name="Text 1"/>
          <p:cNvSpPr/>
          <p:nvPr/>
        </p:nvSpPr>
        <p:spPr>
          <a:xfrm>
            <a:off x="6280190" y="2688788"/>
            <a:ext cx="7556421" cy="1814513"/>
          </a:xfrm>
          <a:prstGeom prst="rect">
            <a:avLst/>
          </a:prstGeom>
          <a:noFill/>
        </p:spPr>
        <p:txBody>
          <a:bodyPr wrap="square" lIns="0" tIns="0" rIns="0" bIns="0" rtlCol="0" anchor="t"/>
          <a:lstStyle/>
          <a:p>
            <a:pPr marL="0" indent="0" algn="l">
              <a:lnSpc>
                <a:spcPts val="2850"/>
              </a:lnSpc>
              <a:buNone/>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The system shows that embedding-based semantic retrieval with precomputed class centroids is effective, accurate, and extensible for modern document classification. It handles heterogeneous formats, supports OCR, and performs focused retrieval with a modular .NET architecture.</a:t>
            </a:r>
            <a:endParaRPr lang="en-US" sz="1750" dirty="0"/>
          </a:p>
        </p:txBody>
      </p:sp>
      <p:sp>
        <p:nvSpPr>
          <p:cNvPr id="5" name="Text 2"/>
          <p:cNvSpPr/>
          <p:nvPr/>
        </p:nvSpPr>
        <p:spPr>
          <a:xfrm>
            <a:off x="6280190" y="4758452"/>
            <a:ext cx="7556421" cy="1689497"/>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Vector database integration for scale and lower latency</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Retrieval-Augmented Generation for natural language answers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Real-time ingestion and REST or web access</a:t>
            </a:r>
            <a:endParaRPr lang="en-US" sz="1750" dirty="0"/>
          </a:p>
          <a:p>
            <a:pPr marL="342900" indent="-342900" algn="l">
              <a:lnSpc>
                <a:spcPts val="2850"/>
              </a:lnSpc>
              <a:buSzPct val="100000"/>
              <a:buChar char="•"/>
            </a:pPr>
            <a:r>
              <a:rPr lang="en-US" sz="1750" dirty="0">
                <a:solidFill>
                  <a:srgbClr val="3C3939"/>
                </a:solidFill>
                <a:latin typeface="Roboto" panose="02000000000000000000" pitchFamily="34" charset="0"/>
                <a:ea typeface="Roboto" panose="02000000000000000000" pitchFamily="34" charset="-122"/>
                <a:cs typeface="Roboto" panose="02000000000000000000" pitchFamily="34" charset="-120"/>
              </a:rPr>
              <a:t>Improved disambiguation for short or name-based queries</a:t>
            </a:r>
            <a:endParaRPr lang="en-US" sz="1750" dirty="0"/>
          </a:p>
        </p:txBody>
      </p:sp>
      <p:sp>
        <p:nvSpPr>
          <p:cNvPr id="6" name="Rectangle 5"/>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49225" y="7743825"/>
            <a:ext cx="1685925" cy="3629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2804160" y="2568141"/>
            <a:ext cx="9022080" cy="1446550"/>
          </a:xfrm>
          <a:prstGeom prst="rect">
            <a:avLst/>
          </a:prstGeom>
          <a:noFill/>
        </p:spPr>
        <p:txBody>
          <a:bodyPr wrap="square" rtlCol="0">
            <a:spAutoFit/>
          </a:bodyPr>
          <a:lstStyle/>
          <a:p>
            <a:pPr algn="ctr"/>
            <a:r>
              <a:rPr lang="en-IN" sz="8800" dirty="0">
                <a:solidFill>
                  <a:schemeClr val="accent1">
                    <a:lumMod val="50000"/>
                  </a:schemeClr>
                </a:solidFill>
                <a:effectLst>
                  <a:outerShdw blurRad="38100" dist="38100" dir="2700000" algn="tl">
                    <a:srgbClr val="000000">
                      <a:alpha val="43137"/>
                    </a:srgbClr>
                  </a:outerShdw>
                </a:effectLst>
              </a:rPr>
              <a:t>Thank You!</a:t>
            </a:r>
            <a:endParaRPr lang="en-IN" sz="8800" dirty="0">
              <a:solidFill>
                <a:schemeClr val="accent1">
                  <a:lumMod val="50000"/>
                </a:schemeClr>
              </a:solidFill>
              <a:effectLst>
                <a:outerShdw blurRad="38100" dist="38100" dir="2700000" algn="tl">
                  <a:srgbClr val="000000">
                    <a:alpha val="43137"/>
                  </a:srgb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0</TotalTime>
  <Words>4038</Words>
  <Application>WPS Slides</Application>
  <PresentationFormat>Custom</PresentationFormat>
  <Paragraphs>132</Paragraphs>
  <Slides>11</Slides>
  <Notes>10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11</vt:i4>
      </vt:variant>
    </vt:vector>
  </HeadingPairs>
  <TitlesOfParts>
    <vt:vector size="30" baseType="lpstr">
      <vt:lpstr>Arial</vt:lpstr>
      <vt:lpstr>SimSun</vt:lpstr>
      <vt:lpstr>Wingdings</vt:lpstr>
      <vt:lpstr>Raleway</vt:lpstr>
      <vt:lpstr>Roboto</vt:lpstr>
      <vt:lpstr>Roboto</vt:lpstr>
      <vt:lpstr>Roboto</vt:lpstr>
      <vt:lpstr>Raleway</vt:lpstr>
      <vt:lpstr>Raleway</vt:lpstr>
      <vt:lpstr>Raleway Light</vt:lpstr>
      <vt:lpstr>Raleway Light</vt:lpstr>
      <vt:lpstr>Raleway Light</vt:lpstr>
      <vt:lpstr>Calibri</vt:lpstr>
      <vt:lpstr>Helvetica Neue</vt:lpstr>
      <vt:lpstr>Microsoft YaHei</vt:lpstr>
      <vt:lpstr>汉仪旗黑</vt:lpstr>
      <vt:lpstr>Arial Unicode MS</vt:lpstr>
      <vt:lpstr>Aptos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P Patil</dc:creator>
  <cp:lastModifiedBy>Sneha Mallepalli</cp:lastModifiedBy>
  <cp:revision>4</cp:revision>
  <dcterms:created xsi:type="dcterms:W3CDTF">2026-03-26T19:28:01Z</dcterms:created>
  <dcterms:modified xsi:type="dcterms:W3CDTF">2026-03-26T19:28:01Z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71C3807F4E4891EAEC48C469F7635E3B_42</vt:lpwstr>
  </property>
  <property fmtid="{D5CDD505-2E9C-101B-9397-08002B2CF9AE}" pid="3" name="KSOProductBuildVer">
    <vt:lpwstr>1033-6.13.0.8707</vt:lpwstr>
  </property>
</Properties>
</file>